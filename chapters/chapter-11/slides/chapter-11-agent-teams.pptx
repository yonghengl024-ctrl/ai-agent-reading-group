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5133" r:id="rId2"/>
    <p:sldId id="256" r:id="rId3"/>
    <p:sldId id="5134" r:id="rId4"/>
    <p:sldId id="379" r:id="rId5"/>
    <p:sldId id="380" r:id="rId6"/>
    <p:sldId id="381" r:id="rId7"/>
    <p:sldId id="383" r:id="rId8"/>
    <p:sldId id="382" r:id="rId9"/>
    <p:sldId id="5135" r:id="rId10"/>
    <p:sldId id="378" r:id="rId11"/>
    <p:sldId id="372" r:id="rId12"/>
    <p:sldId id="373" r:id="rId13"/>
    <p:sldId id="374" r:id="rId14"/>
    <p:sldId id="375" r:id="rId15"/>
    <p:sldId id="376" r:id="rId16"/>
    <p:sldId id="377" r:id="rId17"/>
    <p:sldId id="385" r:id="rId18"/>
    <p:sldId id="386" r:id="rId19"/>
    <p:sldId id="387" r:id="rId20"/>
    <p:sldId id="388" r:id="rId21"/>
    <p:sldId id="5136" r:id="rId22"/>
    <p:sldId id="5137" r:id="rId23"/>
    <p:sldId id="5138" r:id="rId24"/>
    <p:sldId id="5139" r:id="rId25"/>
    <p:sldId id="5141" r:id="rId26"/>
    <p:sldId id="5142" r:id="rId27"/>
    <p:sldId id="514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215" autoAdjust="0"/>
  </p:normalViewPr>
  <p:slideViewPr>
    <p:cSldViewPr snapToGrid="0">
      <p:cViewPr varScale="1">
        <p:scale>
          <a:sx n="84" d="100"/>
          <a:sy n="84" d="100"/>
        </p:scale>
        <p:origin x="9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7EA68-15C4-45EB-9528-F7DDD63D437D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049EB-EAFC-40E9-AE8C-52FC9FA3A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88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49F42C-2DAE-424C-A4B8-3140182C3E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A7841-8AFA-EEBB-7B77-84CA192D8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7C1F05-5DB9-A5D3-6254-448C21CDA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A7CE3-768C-81E2-6EFA-E9FC8F1F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2C9D6-2623-EB5B-7AC0-2706DB8A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639CC-FCED-F78D-B15E-BD1F3530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69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D842B-36FA-8C23-F832-821799AD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04620-3B64-8DE7-93A0-559686801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2B1B0C-5CB4-584B-0227-5B8AA613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233B3-E288-85CE-0659-9C372900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C96D27-76CA-BE98-376F-B42CE432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15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202A1-DE9C-059B-8D05-A9AFD28FF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D91B1A-2609-1F8B-BA91-42EDBBD7A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9D22A0-A7DC-C671-A2AD-D7762F6A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78B6C6-32EC-ED31-6F76-5FF07D6F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58C36-04E5-8990-2398-FB02BDC3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42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544BC5-3215-E79E-2DDA-8AE55DF14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A9AC8-6AD8-A272-4129-C4FCD44D2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6A9E16-1610-258E-7EB1-C4B93E16B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117085-C154-36D1-C02B-B409546A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765D91-48AA-5B14-A23F-780915EA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7084AB-4CAC-FE79-8BB6-A0ABF116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4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1CCF3-B175-DC4D-0C17-4FA67D5B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ACC1AB-4510-2F84-D0A6-1E20D9B08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01A7F1-C7CE-41A6-9B04-A062DA9AD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848E6D-3EAB-3D5C-CD02-C0894BB2C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742B5D-CD6E-397A-4871-35F638FFA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E3ED93-F5FD-B801-A845-6A809B45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904CC8-92CD-D49E-EDAA-32E26D99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098BF2-C485-0F89-90A0-8B867BAC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72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96542-3C89-8F0C-9E6F-D21F43EA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1E6047-37A7-FE7E-17DC-A88C9358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0FB32C-1987-D793-F5F9-BC08F33E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C41912-B796-BBF0-5AA5-4F8B8AD6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257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6CEEBE-A1D3-4EA2-74C9-32364DB0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112C02-F549-1A35-FB4C-246A4682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25ADAF-8DC8-F5A4-6A5E-02503897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70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B0A88-A76D-2B50-18E9-64EDA30AE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7ECF6-7C8F-98E2-A6E5-DD03859AE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DB9BD1-C59E-D501-A42A-C7222011B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9A034E-85E9-1E6E-52B1-F29A6A2B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853BC0-E7E4-C4C4-1D5B-B137DDFE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BD3B0B-7CAB-C544-32F2-E7C3E194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00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948CB-3DA8-4721-93D4-D59D68325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129053-0EC0-B7A1-C09C-09F2DB954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BDCE4B-8A57-0023-A15E-F50894B41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07C504-24B6-B4ED-E3ED-C8D8C179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1ABBDC-42CC-6025-14A4-5169FA1F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20DC8E-F449-8591-CF9F-75940119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893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62166-5BC0-CC45-B4CB-353AB55B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859281-1E5F-F5A0-8893-707CA0108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32C89-086A-93F8-E0AA-369D32E6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7CFE4-2879-1C90-8952-34D4C65B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745507-1E06-72AF-17F8-85388E49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2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A1BCAE-285C-42A3-7595-11A581362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58D26F-7B8C-ADE5-466F-E60C0149E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471165-BCC9-D284-0D02-93A6761C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4D9CA-5463-962E-F012-A4F3C652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8B1AA6-8A6B-7F29-EF8E-F157560D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72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64213A-6CD6-B8DA-DBDA-FF4AAC71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086904-DA19-FB2D-E19F-B6D59B3BE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4D5CE-CAB0-6F4A-AB3F-7F2642394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5F853-083A-4D15-9C6B-1C2BAE9B0323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58513C-E853-46DF-3547-514D940C2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D8449-2891-228A-715B-944E9CA8C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B75A3-E254-4868-978B-14F58FAC52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28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 bwMode="auto">
          <a:xfrm>
            <a:off x="956310" y="1182370"/>
            <a:ext cx="10058400" cy="1121410"/>
          </a:xfrm>
          <a:prstGeom prst="roundRect">
            <a:avLst/>
          </a:prstGeom>
          <a:solidFill>
            <a:srgbClr val="3332B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7695" y="1183005"/>
            <a:ext cx="10754995" cy="112077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2667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第 </a:t>
            </a:r>
            <a:r>
              <a:rPr kumimoji="0" lang="en-US" altLang="zh-CN" sz="4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11</a:t>
            </a:r>
            <a:r>
              <a:rPr kumimoji="0" lang="zh-CN" altLang="en-US" sz="4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 章 多智能体进阶：</a:t>
            </a:r>
            <a:r>
              <a:rPr kumimoji="0" lang="en-US" altLang="zh-CN" sz="4000" b="0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Agent Teams</a:t>
            </a:r>
            <a:endParaRPr kumimoji="0" lang="zh-CN" altLang="en-US" sz="4000" b="0" i="0" u="none" strike="noStrike" kern="1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14360" y="5383530"/>
            <a:ext cx="3865880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sz="1600" dirty="0" err="1">
                <a:cs typeface="+mn-lt"/>
              </a:rPr>
              <a:t>汇报人</a:t>
            </a:r>
            <a:r>
              <a:rPr lang="en-US" sz="1600" dirty="0">
                <a:cs typeface="+mn-lt"/>
              </a:rPr>
              <a:t>：</a:t>
            </a:r>
            <a:r>
              <a:rPr lang="zh-CN" altLang="en-US" sz="1600" dirty="0">
                <a:cs typeface="+mn-lt"/>
              </a:rPr>
              <a:t>金鹏程</a:t>
            </a:r>
            <a:r>
              <a:rPr lang="en-US" sz="1600" dirty="0">
                <a:cs typeface="+mn-lt"/>
              </a:rPr>
              <a:t>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sz="1600" dirty="0">
                <a:cs typeface="+mn-lt"/>
              </a:rPr>
              <a:t>单    位：</a:t>
            </a:r>
            <a:r>
              <a:rPr lang="zh-CN" altLang="en-US" sz="1600" dirty="0">
                <a:cs typeface="+mn-lt"/>
              </a:rPr>
              <a:t>中山大学</a:t>
            </a:r>
            <a:r>
              <a:rPr lang="en-US" sz="1600" dirty="0" err="1">
                <a:cs typeface="+mn-lt"/>
              </a:rPr>
              <a:t>管理学院</a:t>
            </a:r>
            <a:r>
              <a:rPr lang="zh-CN" altLang="en-US" sz="1600" dirty="0">
                <a:cs typeface="+mn-lt"/>
              </a:rPr>
              <a:t>（创业学院）</a:t>
            </a:r>
            <a:endParaRPr lang="en-US" sz="1600" dirty="0">
              <a:cs typeface="+mn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2980" y="2430780"/>
            <a:ext cx="3958590" cy="2775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从子代理到 </a:t>
            </a:r>
            <a:r>
              <a:rPr 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Agent Teams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Agent Teams 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的架构与配置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终端多窗口管理：</a:t>
            </a:r>
            <a:r>
              <a:rPr lang="en-US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Tmux</a:t>
            </a:r>
            <a:r>
              <a:rPr 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入门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任务协调与消息通信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Agent Teams 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场景下的上下文工程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多智能体协作的上下文管理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团队管理与最佳实践</a:t>
            </a:r>
          </a:p>
        </p:txBody>
      </p:sp>
      <p:sp>
        <p:nvSpPr>
          <p:cNvPr id="12" name="Text 10"/>
          <p:cNvSpPr/>
          <p:nvPr/>
        </p:nvSpPr>
        <p:spPr>
          <a:xfrm>
            <a:off x="3522980" y="5653405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dirty="0">
                <a:cs typeface="+mn-lt"/>
                <a:sym typeface="+mn-ea"/>
              </a:rPr>
              <a:t>李学恒  ·  林建浩  ·  严翊歆  ·  张一帆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49"/>
    </mc:Choice>
    <mc:Fallback xmlns="">
      <p:transition spd="slow" advTm="221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子代理到</a:t>
            </a:r>
            <a:r>
              <a:rPr lang="en-US" altLang="zh-CN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agent teams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494BDF-D586-5320-E802-8F8BF12F4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053" y="1135332"/>
            <a:ext cx="9389893" cy="536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6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07BA-0C38-FA0C-F1F8-C068EF1F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3BC3535D-2B56-CBA0-07CC-A79260E858B8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子代理到</a:t>
            </a:r>
            <a:r>
              <a:rPr lang="en-US" altLang="zh-CN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agent teams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AA39699E-21BC-F59D-0D2E-05F33CFB10A5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80847DFB-A395-43A0-4A23-C59146270CF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191C43AC-7685-8DB0-79BA-CC8707D61999}"/>
              </a:ext>
            </a:extLst>
          </p:cNvPr>
          <p:cNvSpPr txBox="1"/>
          <p:nvPr/>
        </p:nvSpPr>
        <p:spPr>
          <a:xfrm>
            <a:off x="570865" y="1178560"/>
            <a:ext cx="10822146" cy="5318760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0" lvl="1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子代理模式在很多场景中工作良好：主代理拆分任务，子代理各自执行，结果汇总给主代理。但这种架构有三个局限：</a:t>
            </a:r>
          </a:p>
          <a:p>
            <a:pPr marL="285750" lvl="1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只能汇报结果，无法互相讨论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。子代理完成任务后，结果只能返回给主代理。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如果子代理 </a:t>
            </a:r>
            <a:r>
              <a:rPr lang="en-US" altLang="zh-CN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在数据分析中发现了异常，而子代理 </a:t>
            </a:r>
            <a:r>
              <a:rPr lang="en-US" altLang="zh-CN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 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负责的正是那部分数据的来源验证，</a:t>
            </a:r>
            <a:r>
              <a:rPr lang="en-US" altLang="zh-CN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无法直接告诉 </a:t>
            </a:r>
            <a:r>
              <a:rPr lang="en-US" altLang="zh-CN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，必须先报告给主代理，由主代理转达。</a:t>
            </a:r>
          </a:p>
          <a:p>
            <a:pPr marL="285750" lvl="1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主代理成为瓶颈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。所有协调工作都要经过主代理。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子代理一多，主代理的协调负担就会明显上升。</a:t>
            </a:r>
          </a:p>
          <a:p>
            <a:pPr marL="285750" lvl="1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缺乏自组织能力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。子代理不能自主认领任务或调整分工。</a:t>
            </a:r>
            <a:r>
              <a:rPr lang="zh-CN" altLang="en-US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即使一个子代理提前完成工作，它也不能主动接手其他任务。</a:t>
            </a:r>
          </a:p>
          <a:p>
            <a:pPr marL="0" lvl="1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Agent Teams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（智能体团队）是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Claude Code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的一项实验性功能，允许多个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Claude Code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实例组成协作团队。一个实例担任团队领导（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Lead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），其他实例作为队友（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Teammate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），它们之间可以直接通信、共享任务列表、自主协调工作。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与子代理的本质区别在于：子代理是主代理的工具，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Agent Teams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中的队友是独立的协作伙伴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86813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子代理到</a:t>
            </a:r>
            <a:r>
              <a:rPr lang="en-US" altLang="zh-CN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agent teams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2C3FCC1-6F6E-41E4-526C-AE965BAB5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271816"/>
              </p:ext>
            </p:extLst>
          </p:nvPr>
        </p:nvGraphicFramePr>
        <p:xfrm>
          <a:off x="1017270" y="2021697"/>
          <a:ext cx="10379043" cy="2194560"/>
        </p:xfrm>
        <a:graphic>
          <a:graphicData uri="http://schemas.openxmlformats.org/drawingml/2006/table">
            <a:tbl>
              <a:tblPr/>
              <a:tblGrid>
                <a:gridCol w="1414290">
                  <a:extLst>
                    <a:ext uri="{9D8B030D-6E8A-4147-A177-3AD203B41FA5}">
                      <a16:colId xmlns:a16="http://schemas.microsoft.com/office/drawing/2014/main" val="2216291952"/>
                    </a:ext>
                  </a:extLst>
                </a:gridCol>
                <a:gridCol w="3653410">
                  <a:extLst>
                    <a:ext uri="{9D8B030D-6E8A-4147-A177-3AD203B41FA5}">
                      <a16:colId xmlns:a16="http://schemas.microsoft.com/office/drawing/2014/main" val="2254036842"/>
                    </a:ext>
                  </a:extLst>
                </a:gridCol>
                <a:gridCol w="5311343">
                  <a:extLst>
                    <a:ext uri="{9D8B030D-6E8A-4147-A177-3AD203B41FA5}">
                      <a16:colId xmlns:a16="http://schemas.microsoft.com/office/drawing/2014/main" val="310757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维度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子代理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Agent Teams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上下文窗口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独立，结果返回给主代理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独立，完全自治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1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通信方式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只能向主代理汇报结果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队友之间可以直接互发消息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976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协调方式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主代理管理所有工作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共享任务列表，自主协调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23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适用场景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聚焦型任务，只关心结果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需要讨论、挑战、协作的复杂工作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90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开销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较低，子代理是轻量实例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较高，每个队友都是独立的 </a:t>
                      </a:r>
                      <a:r>
                        <a:rPr lang="en-US" dirty="0">
                          <a:effectLst/>
                        </a:rPr>
                        <a:t>Claude Code </a:t>
                      </a:r>
                      <a:r>
                        <a:rPr lang="zh-CN" altLang="en-US" dirty="0">
                          <a:effectLst/>
                        </a:rPr>
                        <a:t>实例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21472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F7EFA24-6AF5-DC92-2A84-201657E4713A}"/>
              </a:ext>
            </a:extLst>
          </p:cNvPr>
          <p:cNvSpPr txBox="1"/>
          <p:nvPr/>
        </p:nvSpPr>
        <p:spPr>
          <a:xfrm>
            <a:off x="836928" y="13935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下表从五个维度对比两种模式的差异：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B6973-793A-48FC-E9EB-197A0727F2EB}"/>
              </a:ext>
            </a:extLst>
          </p:cNvPr>
          <p:cNvSpPr txBox="1"/>
          <p:nvPr/>
        </p:nvSpPr>
        <p:spPr>
          <a:xfrm>
            <a:off x="836928" y="4617416"/>
            <a:ext cx="10559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72A"/>
                </a:solidFill>
                <a:effectLst/>
                <a:latin typeface="PingFang SC"/>
              </a:rPr>
              <a:t>不同适用场景的选择判断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：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如果任务适合拆成若干独立部分再集中汇总结果，用子代理更合适；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如果任务需要多角色持续讨论并形成共同判断，用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Agent Teams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更合适。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agent team</a:t>
            </a:r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构成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46EB53F-FA3B-5BAF-DE05-F795DA9CA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892418"/>
              </p:ext>
            </p:extLst>
          </p:nvPr>
        </p:nvGraphicFramePr>
        <p:xfrm>
          <a:off x="836930" y="4590876"/>
          <a:ext cx="10296526" cy="1828800"/>
        </p:xfrm>
        <a:graphic>
          <a:graphicData uri="http://schemas.openxmlformats.org/drawingml/2006/table">
            <a:tbl>
              <a:tblPr/>
              <a:tblGrid>
                <a:gridCol w="3619567">
                  <a:extLst>
                    <a:ext uri="{9D8B030D-6E8A-4147-A177-3AD203B41FA5}">
                      <a16:colId xmlns:a16="http://schemas.microsoft.com/office/drawing/2014/main" val="3274414549"/>
                    </a:ext>
                  </a:extLst>
                </a:gridCol>
                <a:gridCol w="6676959">
                  <a:extLst>
                    <a:ext uri="{9D8B030D-6E8A-4147-A177-3AD203B41FA5}">
                      <a16:colId xmlns:a16="http://schemas.microsoft.com/office/drawing/2014/main" val="2974769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组件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说明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20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effectLst/>
                        </a:rPr>
                        <a:t>Lead</a:t>
                      </a:r>
                      <a:r>
                        <a:rPr lang="zh-CN" altLang="en-US" b="1" dirty="0">
                          <a:effectLst/>
                        </a:rPr>
                        <a:t>（团队领导）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创建团队、生成队友、协调工作的主 </a:t>
                      </a:r>
                      <a:r>
                        <a:rPr lang="en-US" altLang="zh-CN">
                          <a:effectLst/>
                        </a:rPr>
                        <a:t>Claude Code </a:t>
                      </a:r>
                      <a:r>
                        <a:rPr lang="zh-CN" altLang="en-US">
                          <a:effectLst/>
                        </a:rPr>
                        <a:t>会话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30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Teammates（</a:t>
                      </a:r>
                      <a:r>
                        <a:rPr lang="zh-CN" altLang="en-US" b="1">
                          <a:effectLst/>
                        </a:rPr>
                        <a:t>队友）</a:t>
                      </a:r>
                      <a:endParaRPr lang="zh-CN" alt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独立的 </a:t>
                      </a:r>
                      <a:r>
                        <a:rPr lang="en-US">
                          <a:effectLst/>
                        </a:rPr>
                        <a:t>Claude Code </a:t>
                      </a:r>
                      <a:r>
                        <a:rPr lang="zh-CN" altLang="en-US">
                          <a:effectLst/>
                        </a:rPr>
                        <a:t>实例，各自处理分配的任务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615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Shared task list（</a:t>
                      </a:r>
                      <a:r>
                        <a:rPr lang="zh-CN" altLang="en-US" b="1" dirty="0">
                          <a:effectLst/>
                        </a:rPr>
                        <a:t>共享任务列表）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所有队友都能看到和更新的工作条目列表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92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Messaging system（</a:t>
                      </a:r>
                      <a:r>
                        <a:rPr lang="zh-CN" altLang="en-US" b="1">
                          <a:effectLst/>
                        </a:rPr>
                        <a:t>消息系统）</a:t>
                      </a:r>
                      <a:endParaRPr lang="zh-CN" alt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智能体之间的通信通道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3952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55F12B9-5AFC-B34F-8625-4D66BA452260}"/>
              </a:ext>
            </a:extLst>
          </p:cNvPr>
          <p:cNvSpPr txBox="1"/>
          <p:nvPr/>
        </p:nvSpPr>
        <p:spPr>
          <a:xfrm>
            <a:off x="836930" y="40546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一个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Agent Team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由四个部分组成：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A9CAE9-BEF3-BF29-247F-FD91AD53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636" y="150386"/>
            <a:ext cx="5934896" cy="4357038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51B1F0F-2DCC-214E-C213-2AB090397420}"/>
              </a:ext>
            </a:extLst>
          </p:cNvPr>
          <p:cNvSpPr/>
          <p:nvPr/>
        </p:nvSpPr>
        <p:spPr>
          <a:xfrm>
            <a:off x="6843997" y="2002055"/>
            <a:ext cx="2290378" cy="205258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6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启用方法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D8B971-A3DD-9CE7-D0E4-9BC52D739AEE}"/>
              </a:ext>
            </a:extLst>
          </p:cNvPr>
          <p:cNvSpPr txBox="1"/>
          <p:nvPr/>
        </p:nvSpPr>
        <p:spPr>
          <a:xfrm>
            <a:off x="656590" y="1397675"/>
            <a:ext cx="10585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Agent Teams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默认禁用。启用方法是设置环境变量：</a:t>
            </a: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zh-CN" altLang="en-US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dirty="0">
                <a:solidFill>
                  <a:srgbClr val="0F172A"/>
                </a:solidFill>
                <a:latin typeface="PingFang SC"/>
              </a:rPr>
              <a:t>也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可以将这行命令添加到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Shell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配置文件（如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~/.</a:t>
            </a:r>
            <a:r>
              <a:rPr lang="en-US" altLang="zh-CN" b="0" i="0" dirty="0" err="1">
                <a:solidFill>
                  <a:srgbClr val="0F172A"/>
                </a:solidFill>
                <a:effectLst/>
                <a:latin typeface="PingFang SC"/>
              </a:rPr>
              <a:t>zshrc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或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~/.</a:t>
            </a:r>
            <a:r>
              <a:rPr lang="en-US" altLang="zh-CN" b="0" i="0" dirty="0" err="1">
                <a:solidFill>
                  <a:srgbClr val="0F172A"/>
                </a:solidFill>
                <a:effectLst/>
                <a:latin typeface="PingFang SC"/>
              </a:rPr>
              <a:t>bashrc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）中，每次启动终端时自动生效。也可以在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~/.</a:t>
            </a:r>
            <a:r>
              <a:rPr lang="en-US" altLang="zh-CN" b="0" i="0" dirty="0" err="1">
                <a:solidFill>
                  <a:srgbClr val="0F172A"/>
                </a:solidFill>
                <a:effectLst/>
                <a:latin typeface="PingFang SC"/>
              </a:rPr>
              <a:t>claude.json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中配置：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8DF624-6225-0FC1-B099-D07A14B0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30" y="1738382"/>
            <a:ext cx="7352381" cy="11142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47929E-1114-FAF8-516F-FF5C005CE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30" y="4046706"/>
            <a:ext cx="7352381" cy="1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8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创建团队与角色配置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D8B971-A3DD-9CE7-D0E4-9BC52D739AEE}"/>
              </a:ext>
            </a:extLst>
          </p:cNvPr>
          <p:cNvSpPr txBox="1"/>
          <p:nvPr/>
        </p:nvSpPr>
        <p:spPr>
          <a:xfrm>
            <a:off x="466090" y="1158220"/>
            <a:ext cx="1058576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在对话中明确要求创建团队，并描述需要什么角色：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zh-CN" altLang="en-US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zh-CN" altLang="en-US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zh-CN" altLang="en-US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如果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Claude Code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判断当前任务适合并行协作，它也可能主动建议创建团队，用户确认后才实际创建。</a:t>
            </a:r>
          </a:p>
          <a:p>
            <a:endParaRPr lang="zh-CN" altLang="en-US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队友数量推荐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3-5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个。每个队友可以使用不同的模型：</a:t>
            </a:r>
            <a:r>
              <a:rPr lang="zh-CN" altLang="en-US" b="1" i="0" dirty="0">
                <a:solidFill>
                  <a:schemeClr val="accent1"/>
                </a:solidFill>
                <a:effectLst/>
                <a:latin typeface="PingFang SC"/>
              </a:rPr>
              <a:t>分析任务用 </a:t>
            </a:r>
            <a:r>
              <a:rPr lang="en-US" altLang="zh-CN" b="1" i="0" dirty="0">
                <a:solidFill>
                  <a:schemeClr val="accent1"/>
                </a:solidFill>
                <a:effectLst/>
                <a:latin typeface="PingFang SC"/>
              </a:rPr>
              <a:t>sonnet</a:t>
            </a:r>
            <a:r>
              <a:rPr lang="zh-CN" altLang="en-US" b="1" i="0" dirty="0">
                <a:solidFill>
                  <a:schemeClr val="accent1"/>
                </a:solidFill>
                <a:effectLst/>
                <a:latin typeface="PingFang SC"/>
              </a:rPr>
              <a:t>，深度推理用 </a:t>
            </a:r>
            <a:r>
              <a:rPr lang="en-US" altLang="zh-CN" b="1" i="0" dirty="0">
                <a:solidFill>
                  <a:schemeClr val="accent1"/>
                </a:solidFill>
                <a:effectLst/>
                <a:latin typeface="PingFang SC"/>
              </a:rPr>
              <a:t>opus</a:t>
            </a:r>
            <a:r>
              <a:rPr lang="zh-CN" altLang="en-US" b="1" i="0" dirty="0">
                <a:solidFill>
                  <a:schemeClr val="accent1"/>
                </a:solidFill>
                <a:effectLst/>
                <a:latin typeface="PingFang SC"/>
              </a:rPr>
              <a:t>，简单数据收集用 </a:t>
            </a:r>
            <a:r>
              <a:rPr lang="en-US" altLang="zh-CN" b="1" i="0" dirty="0">
                <a:solidFill>
                  <a:schemeClr val="accent1"/>
                </a:solidFill>
                <a:effectLst/>
                <a:latin typeface="PingFang SC"/>
              </a:rPr>
              <a:t>haiku</a:t>
            </a:r>
            <a:r>
              <a:rPr lang="zh-CN" altLang="en-US" b="1" i="0" dirty="0">
                <a:solidFill>
                  <a:schemeClr val="accent1"/>
                </a:solidFill>
                <a:effectLst/>
                <a:latin typeface="PingFang SC"/>
              </a:rPr>
              <a:t>。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Lead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通常使用最强的模型，因为它承担协调和决策的核心工作。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F08D57-B786-4A3B-5B5E-D31215BBE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49" y="1512876"/>
            <a:ext cx="6708374" cy="167619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54B17FE-D221-543A-9B81-F637BAA9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30" y="3189066"/>
            <a:ext cx="3933190" cy="19996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639B324-1AD2-BCE6-2EF1-556FCC717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661" y="92095"/>
            <a:ext cx="4847590" cy="29997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923420-8932-7B9B-FE7C-EB8F26B3C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559" y="2949317"/>
            <a:ext cx="4404995" cy="241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4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显示模式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D8B971-A3DD-9CE7-D0E4-9BC52D739AEE}"/>
              </a:ext>
            </a:extLst>
          </p:cNvPr>
          <p:cNvSpPr txBox="1"/>
          <p:nvPr/>
        </p:nvSpPr>
        <p:spPr>
          <a:xfrm>
            <a:off x="567891" y="1199555"/>
            <a:ext cx="105857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队友的显示方式有两种，通过 </a:t>
            </a:r>
            <a:r>
              <a:rPr lang="en-US" altLang="zh-CN" b="0" i="0" dirty="0" err="1">
                <a:solidFill>
                  <a:srgbClr val="0F172A"/>
                </a:solidFill>
                <a:effectLst/>
                <a:latin typeface="PingFang SC"/>
              </a:rPr>
              <a:t>teammateMode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设置控制：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在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~/.</a:t>
            </a:r>
            <a:r>
              <a:rPr lang="en-US" altLang="zh-CN" b="0" i="0" dirty="0" err="1">
                <a:solidFill>
                  <a:srgbClr val="0F172A"/>
                </a:solidFill>
                <a:effectLst/>
                <a:latin typeface="PingFang SC"/>
              </a:rPr>
              <a:t>claude.json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中配置显示模式：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{"</a:t>
            </a:r>
            <a:r>
              <a:rPr lang="en-US" altLang="zh-CN" b="0" i="0" dirty="0" err="1">
                <a:solidFill>
                  <a:srgbClr val="0F172A"/>
                </a:solidFill>
                <a:effectLst/>
                <a:latin typeface="PingFang SC"/>
              </a:rPr>
              <a:t>teammateMode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": "</a:t>
            </a:r>
            <a:r>
              <a:rPr lang="en-US" altLang="zh-CN" b="1" i="0" dirty="0">
                <a:solidFill>
                  <a:schemeClr val="accent1"/>
                </a:solidFill>
                <a:effectLst/>
                <a:latin typeface="PingFang SC"/>
              </a:rPr>
              <a:t>in-process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"}</a:t>
            </a: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也可以通过命令行参数临时指定：</a:t>
            </a:r>
            <a:r>
              <a:rPr lang="en-US" altLang="zh-CN" b="1" i="0" dirty="0" err="1">
                <a:solidFill>
                  <a:schemeClr val="accent1"/>
                </a:solidFill>
                <a:effectLst/>
                <a:latin typeface="PingFang SC"/>
              </a:rPr>
              <a:t>claude</a:t>
            </a:r>
            <a:r>
              <a:rPr lang="en-US" altLang="zh-CN" b="1" i="0" dirty="0">
                <a:solidFill>
                  <a:schemeClr val="accent1"/>
                </a:solidFill>
                <a:effectLst/>
                <a:latin typeface="PingFang SC"/>
              </a:rPr>
              <a:t> --teammate-mode in-process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。初次使用时，建议先用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in-process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模式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E8E1296-9FC1-7153-5126-2B8DBF4C7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593968"/>
              </p:ext>
            </p:extLst>
          </p:nvPr>
        </p:nvGraphicFramePr>
        <p:xfrm>
          <a:off x="751205" y="1806624"/>
          <a:ext cx="9848852" cy="2834640"/>
        </p:xfrm>
        <a:graphic>
          <a:graphicData uri="http://schemas.openxmlformats.org/drawingml/2006/table">
            <a:tbl>
              <a:tblPr/>
              <a:tblGrid>
                <a:gridCol w="2462213">
                  <a:extLst>
                    <a:ext uri="{9D8B030D-6E8A-4147-A177-3AD203B41FA5}">
                      <a16:colId xmlns:a16="http://schemas.microsoft.com/office/drawing/2014/main" val="3706104724"/>
                    </a:ext>
                  </a:extLst>
                </a:gridCol>
                <a:gridCol w="2462213">
                  <a:extLst>
                    <a:ext uri="{9D8B030D-6E8A-4147-A177-3AD203B41FA5}">
                      <a16:colId xmlns:a16="http://schemas.microsoft.com/office/drawing/2014/main" val="3039355555"/>
                    </a:ext>
                  </a:extLst>
                </a:gridCol>
                <a:gridCol w="2462213">
                  <a:extLst>
                    <a:ext uri="{9D8B030D-6E8A-4147-A177-3AD203B41FA5}">
                      <a16:colId xmlns:a16="http://schemas.microsoft.com/office/drawing/2014/main" val="1198758615"/>
                    </a:ext>
                  </a:extLst>
                </a:gridCol>
                <a:gridCol w="2462213">
                  <a:extLst>
                    <a:ext uri="{9D8B030D-6E8A-4147-A177-3AD203B41FA5}">
                      <a16:colId xmlns:a16="http://schemas.microsoft.com/office/drawing/2014/main" val="1119702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设置值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行为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优点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缺点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661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in-process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所有队友在主终端窗口内运行，用 </a:t>
                      </a:r>
                      <a:r>
                        <a:rPr lang="en-US">
                          <a:effectLst/>
                        </a:rPr>
                        <a:t>Shift+Down </a:t>
                      </a:r>
                      <a:r>
                        <a:rPr lang="zh-CN" altLang="en-US">
                          <a:effectLst/>
                        </a:rPr>
                        <a:t>切换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设置简单，无需额外工具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同时只能看一个队友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93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tmux（split-pane</a:t>
                      </a:r>
                      <a:r>
                        <a:rPr lang="en-US" dirty="0">
                          <a:effectLst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每个队友有独立终端面板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同时监控所有队友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需要 </a:t>
                      </a:r>
                      <a:r>
                        <a:rPr lang="en-US" dirty="0" err="1">
                          <a:effectLst/>
                        </a:rPr>
                        <a:t>tmux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或 </a:t>
                      </a:r>
                      <a:r>
                        <a:rPr lang="en-US" dirty="0">
                          <a:effectLst/>
                        </a:rPr>
                        <a:t>iTerm2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842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auto（</a:t>
                      </a:r>
                      <a:r>
                        <a:rPr lang="zh-CN" altLang="en-US" dirty="0">
                          <a:effectLst/>
                        </a:rPr>
                        <a:t>默认）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检测到 </a:t>
                      </a:r>
                      <a:r>
                        <a:rPr lang="en-US">
                          <a:effectLst/>
                        </a:rPr>
                        <a:t>tmux </a:t>
                      </a:r>
                      <a:r>
                        <a:rPr lang="zh-CN" altLang="en-US">
                          <a:effectLst/>
                        </a:rPr>
                        <a:t>则用 </a:t>
                      </a:r>
                      <a:r>
                        <a:rPr lang="en-US">
                          <a:effectLst/>
                        </a:rPr>
                        <a:t>split-pane，</a:t>
                      </a:r>
                      <a:r>
                        <a:rPr lang="zh-CN" altLang="en-US">
                          <a:effectLst/>
                        </a:rPr>
                        <a:t>否则用 </a:t>
                      </a:r>
                      <a:r>
                        <a:rPr lang="en-US">
                          <a:effectLst/>
                        </a:rPr>
                        <a:t>in-process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自动适配环境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effectLst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68929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5CCA7F-277B-6B70-4A78-292CAAB28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93503"/>
              </p:ext>
            </p:extLst>
          </p:nvPr>
        </p:nvGraphicFramePr>
        <p:xfrm>
          <a:off x="567891" y="3108960"/>
          <a:ext cx="10376033" cy="654518"/>
        </p:xfrm>
        <a:graphic>
          <a:graphicData uri="http://schemas.openxmlformats.org/drawingml/2006/table">
            <a:tbl>
              <a:tblPr/>
              <a:tblGrid>
                <a:gridCol w="10376033">
                  <a:extLst>
                    <a:ext uri="{9D8B030D-6E8A-4147-A177-3AD203B41FA5}">
                      <a16:colId xmlns:a16="http://schemas.microsoft.com/office/drawing/2014/main" val="892959211"/>
                    </a:ext>
                  </a:extLst>
                </a:gridCol>
              </a:tblGrid>
              <a:tr h="65451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mpd="sng">
                      <a:solidFill>
                        <a:srgbClr val="0070C0"/>
                      </a:solidFill>
                      <a:prstDash val="solid"/>
                    </a:lnL>
                    <a:lnR w="38100" cmpd="sng">
                      <a:solidFill>
                        <a:srgbClr val="0070C0"/>
                      </a:solidFill>
                      <a:prstDash val="solid"/>
                    </a:lnR>
                    <a:lnT w="38100" cmpd="sng">
                      <a:solidFill>
                        <a:srgbClr val="0070C0"/>
                      </a:solidFill>
                      <a:prstDash val="solid"/>
                    </a:lnT>
                    <a:lnB w="38100" cmpd="sng">
                      <a:solidFill>
                        <a:srgbClr val="007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573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615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CE06-96D2-4500-6042-D3268273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72436D20-B987-2348-F35A-4917707F3D7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显示模式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F8D15DA9-EF07-34DF-2D3A-1C29F3ED5290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5BA6B6CA-91EF-D5FB-4BCC-A63930670591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9CE3C4-6709-EA46-DBA9-4B6EC089A0EB}"/>
              </a:ext>
            </a:extLst>
          </p:cNvPr>
          <p:cNvSpPr txBox="1"/>
          <p:nvPr/>
        </p:nvSpPr>
        <p:spPr>
          <a:xfrm>
            <a:off x="751204" y="1147420"/>
            <a:ext cx="5344796" cy="1477328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PingFang SC"/>
              </a:rPr>
              <a:t>苹果用户：</a:t>
            </a:r>
            <a:endParaRPr lang="en-US" altLang="zh-CN" b="1" dirty="0">
              <a:solidFill>
                <a:schemeClr val="accent1"/>
              </a:solidFill>
              <a:latin typeface="PingFang SC"/>
            </a:endParaRPr>
          </a:p>
          <a:p>
            <a:r>
              <a:rPr lang="en-US" altLang="zh-CN" dirty="0">
                <a:solidFill>
                  <a:srgbClr val="0F172A"/>
                </a:solidFill>
                <a:latin typeface="PingFang SC"/>
              </a:rPr>
              <a:t>macOS 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上的 </a:t>
            </a:r>
            <a:r>
              <a:rPr lang="en-US" altLang="zh-CN" dirty="0">
                <a:solidFill>
                  <a:srgbClr val="0F172A"/>
                </a:solidFill>
                <a:latin typeface="PingFang SC"/>
              </a:rPr>
              <a:t>iTerm2 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也原生支持 </a:t>
            </a:r>
            <a:r>
              <a:rPr lang="en-US" altLang="zh-CN" dirty="0">
                <a:solidFill>
                  <a:srgbClr val="0F172A"/>
                </a:solidFill>
                <a:latin typeface="PingFang SC"/>
              </a:rPr>
              <a:t>Agent Teams 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的 </a:t>
            </a:r>
            <a:r>
              <a:rPr lang="en-US" altLang="zh-CN" dirty="0">
                <a:solidFill>
                  <a:srgbClr val="0F172A"/>
                </a:solidFill>
                <a:latin typeface="PingFang SC"/>
              </a:rPr>
              <a:t>split-pane 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模式，无需安装 </a:t>
            </a:r>
            <a:r>
              <a:rPr lang="en-US" altLang="zh-CN" dirty="0" err="1">
                <a:solidFill>
                  <a:srgbClr val="0F172A"/>
                </a:solidFill>
                <a:latin typeface="PingFang SC"/>
              </a:rPr>
              <a:t>Tmux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。配置步骤：安装 </a:t>
            </a:r>
            <a:r>
              <a:rPr lang="en-US" altLang="zh-CN" dirty="0">
                <a:solidFill>
                  <a:srgbClr val="0F172A"/>
                </a:solidFill>
                <a:latin typeface="PingFang SC"/>
              </a:rPr>
              <a:t>it2 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命令行工具，然后在 </a:t>
            </a:r>
            <a:r>
              <a:rPr lang="en-US" altLang="zh-CN" dirty="0">
                <a:solidFill>
                  <a:srgbClr val="0F172A"/>
                </a:solidFill>
                <a:latin typeface="PingFang SC"/>
              </a:rPr>
              <a:t>iTerm2 → Settings → General → Magic 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中开启 </a:t>
            </a:r>
            <a:r>
              <a:rPr lang="en-US" altLang="zh-CN" dirty="0">
                <a:solidFill>
                  <a:srgbClr val="0F172A"/>
                </a:solidFill>
                <a:latin typeface="PingFang SC"/>
              </a:rPr>
              <a:t>Enable Python API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。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ACECB3-BC03-68AB-DD8B-60FD118F1D79}"/>
              </a:ext>
            </a:extLst>
          </p:cNvPr>
          <p:cNvSpPr txBox="1"/>
          <p:nvPr/>
        </p:nvSpPr>
        <p:spPr>
          <a:xfrm>
            <a:off x="751204" y="2955831"/>
            <a:ext cx="5344795" cy="3693319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PingFang SC"/>
              </a:rPr>
              <a:t>Windows/</a:t>
            </a:r>
            <a:r>
              <a:rPr lang="zh-CN" altLang="en-US" b="1" dirty="0">
                <a:solidFill>
                  <a:schemeClr val="accent1"/>
                </a:solidFill>
                <a:latin typeface="PingFang SC"/>
              </a:rPr>
              <a:t>苹果：</a:t>
            </a:r>
            <a:endParaRPr lang="en-US" altLang="zh-CN" b="1" dirty="0">
              <a:solidFill>
                <a:schemeClr val="accent1"/>
              </a:solidFill>
              <a:latin typeface="PingFang SC"/>
            </a:endParaRPr>
          </a:p>
          <a:p>
            <a:r>
              <a:rPr lang="zh-CN" altLang="en-US" dirty="0">
                <a:solidFill>
                  <a:srgbClr val="0F172A"/>
                </a:solidFill>
                <a:latin typeface="PingFang SC"/>
              </a:rPr>
              <a:t>在一个终端窗口内创建多个独立的面板（</a:t>
            </a:r>
            <a:r>
              <a:rPr lang="en-US" altLang="zh-CN" dirty="0">
                <a:solidFill>
                  <a:srgbClr val="0F172A"/>
                </a:solidFill>
                <a:latin typeface="PingFang SC"/>
              </a:rPr>
              <a:t>pane</a:t>
            </a:r>
            <a:r>
              <a:rPr lang="zh-CN" altLang="en-US" dirty="0">
                <a:solidFill>
                  <a:srgbClr val="0F172A"/>
                </a:solidFill>
                <a:latin typeface="PingFang SC"/>
              </a:rPr>
              <a:t>），每个面板运行各自的命令行程序。</a:t>
            </a:r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在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Agent Teams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的场景中，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split-pane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模式下 </a:t>
            </a:r>
            <a:r>
              <a:rPr lang="en-US" altLang="zh-CN" b="0" i="0" dirty="0">
                <a:solidFill>
                  <a:srgbClr val="0F172A"/>
                </a:solidFill>
                <a:effectLst/>
                <a:latin typeface="PingFang SC"/>
              </a:rPr>
              <a:t>Lead </a:t>
            </a:r>
            <a:r>
              <a:rPr lang="zh-CN" altLang="en-US" b="0" i="0" dirty="0">
                <a:solidFill>
                  <a:srgbClr val="0F172A"/>
                </a:solidFill>
                <a:effectLst/>
                <a:latin typeface="PingFang SC"/>
              </a:rPr>
              <a:t>和每个队友各占一个面板，用户可以同时看到所有智能体的工作状态。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r>
              <a:rPr lang="zh-CN" altLang="en-US" dirty="0">
                <a:solidFill>
                  <a:srgbClr val="0F172A"/>
                </a:solidFill>
                <a:latin typeface="PingFang SC"/>
              </a:rPr>
              <a:t>优点：</a:t>
            </a:r>
            <a:endParaRPr lang="en-US" altLang="zh-CN" dirty="0">
              <a:solidFill>
                <a:srgbClr val="0F172A"/>
              </a:solidFill>
              <a:latin typeface="PingFang SC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dirty="0"/>
              <a:t>所有面板在同一个视野内，不需要反复切换窗口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dirty="0"/>
              <a:t> Tmux 会话在终端关闭后仍然存活，重新连接即可恢复现场</a:t>
            </a:r>
            <a:r>
              <a:rPr lang="zh-CN" altLang="en-US" dirty="0"/>
              <a:t>。</a:t>
            </a:r>
            <a:endParaRPr lang="en-US" altLang="zh-CN" b="0" i="0" dirty="0">
              <a:solidFill>
                <a:srgbClr val="0F172A"/>
              </a:solidFill>
              <a:effectLst/>
              <a:latin typeface="PingFang SC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8B78B8-ED4D-145A-77F1-AA7F44D43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78935"/>
              </p:ext>
            </p:extLst>
          </p:nvPr>
        </p:nvGraphicFramePr>
        <p:xfrm>
          <a:off x="6477118" y="4824257"/>
          <a:ext cx="5417184" cy="2011680"/>
        </p:xfrm>
        <a:graphic>
          <a:graphicData uri="http://schemas.openxmlformats.org/drawingml/2006/table">
            <a:tbl>
              <a:tblPr/>
              <a:tblGrid>
                <a:gridCol w="2708592">
                  <a:extLst>
                    <a:ext uri="{9D8B030D-6E8A-4147-A177-3AD203B41FA5}">
                      <a16:colId xmlns:a16="http://schemas.microsoft.com/office/drawing/2014/main" val="3352852184"/>
                    </a:ext>
                  </a:extLst>
                </a:gridCol>
                <a:gridCol w="2708592">
                  <a:extLst>
                    <a:ext uri="{9D8B030D-6E8A-4147-A177-3AD203B41FA5}">
                      <a16:colId xmlns:a16="http://schemas.microsoft.com/office/drawing/2014/main" val="324045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平</a:t>
                      </a:r>
                      <a:r>
                        <a:rPr lang="zh-CN" dirty="0">
                          <a:effectLst/>
                        </a:rPr>
                        <a:t>台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>
                          <a:effectLst/>
                        </a:rPr>
                        <a:t>命令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299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macOS（Homebrew）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0">
                          <a:solidFill>
                            <a:srgbClr val="0F172A"/>
                          </a:solidFill>
                          <a:effectLst/>
                          <a:latin typeface="SFMono-Regular"/>
                        </a:rPr>
                        <a:t>brew install tmux</a:t>
                      </a:r>
                      <a:endParaRPr lang="zh-CN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69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>
                          <a:effectLst/>
                        </a:rPr>
                        <a:t>Linux（Debian/Ubuntu）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0" dirty="0">
                          <a:solidFill>
                            <a:srgbClr val="0F172A"/>
                          </a:solidFill>
                          <a:effectLst/>
                          <a:latin typeface="SFMono-Regular"/>
                        </a:rPr>
                        <a:t>sudo apt update &amp;&amp; sudo apt install tmux</a:t>
                      </a:r>
                      <a:endParaRPr lang="zh-CN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614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验证安装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0" dirty="0">
                          <a:solidFill>
                            <a:srgbClr val="0F172A"/>
                          </a:solidFill>
                          <a:effectLst/>
                          <a:latin typeface="SFMono-Regular"/>
                        </a:rPr>
                        <a:t>tmux -V</a:t>
                      </a:r>
                      <a:r>
                        <a:rPr lang="zh-CN" dirty="0">
                          <a:effectLst/>
                        </a:rPr>
                        <a:t>（输出类似 </a:t>
                      </a:r>
                      <a:r>
                        <a:rPr lang="zh-CN" b="0" dirty="0">
                          <a:solidFill>
                            <a:srgbClr val="0F172A"/>
                          </a:solidFill>
                          <a:effectLst/>
                          <a:latin typeface="SFMono-Regular"/>
                        </a:rPr>
                        <a:t>tmux 3.5a</a:t>
                      </a:r>
                      <a:r>
                        <a:rPr lang="zh-CN" dirty="0">
                          <a:effectLst/>
                        </a:rPr>
                        <a:t> 表示成功）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90608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DB5FB5F0-BF8C-598A-726D-33B1E5F60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615" y="0"/>
            <a:ext cx="4314190" cy="486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6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 err="1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Tmux</a:t>
            </a:r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是什么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114935" y="1149985"/>
            <a:ext cx="10822146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会话与进程</a:t>
            </a:r>
            <a:endParaRPr lang="en-US" altLang="zh-CN" sz="2000" b="1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86485" lvl="1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命令行的典型使用方式是，打开一个终端窗口（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terminal window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，以下简称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窗口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），在里面输入命令。用户与计算机的这种临时的交互，称为一次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会话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session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 。</a:t>
            </a:r>
          </a:p>
          <a:p>
            <a:pPr marL="1086485" lvl="1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会话的一个重要特点是，窗口与其中启动的进程是连在一起的。打开窗口，会话开始；关闭窗口，会话结束，会话内部的进程也会随之终止，不管有没有运行完。</a:t>
            </a:r>
          </a:p>
          <a:p>
            <a:pPr marL="1086485" lvl="1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一个典型的例子就是，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SSH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登录远程计算机，打开一个远程窗口执行命令。这时，网络突然断线，再次登录的时候，是找不回上一次执行的命令的。因为上一次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SSH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会话已经终止了，里面的进程也随之消失了。</a:t>
            </a:r>
          </a:p>
          <a:p>
            <a:pPr marL="1086485" lvl="1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为了解决这个问题，会话与窗口可以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解绑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窗口关闭时，会话并不终止，而是继续运行，等到以后需要的时候，再让会话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绑定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其他窗口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800735" lvl="1" algn="just">
              <a:lnSpc>
                <a:spcPct val="150000"/>
              </a:lnSpc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https://www.ruanyifeng.com/blog/2019/10/tmux.html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923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 err="1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Tmux</a:t>
            </a:r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是什么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114935" y="1149985"/>
            <a:ext cx="10822146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000" b="1" dirty="0" err="1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Tmux</a:t>
            </a:r>
            <a:r>
              <a:rPr lang="en-US" altLang="zh-CN" sz="20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的作用</a:t>
            </a:r>
            <a:endParaRPr lang="en-US" altLang="zh-CN" sz="2000" b="1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en-US" altLang="zh-CN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就是会话与窗口的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解绑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工具，将它们彻底分离。</a:t>
            </a: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）它允许在单个窗口中，同时访问多个会话。这对于同时运行多个命令行程序很有用。</a:t>
            </a: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 它可以让新窗口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已经存在的会话。</a:t>
            </a: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）它允许每个会话有多个连接窗口，因此可以多人实时共享会话。</a:t>
            </a: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）它还支持窗口任意的垂直和水平拆分。</a:t>
            </a: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类似的终端复用器还有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GNU Screen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与它功能相似，但是更易用，也更强大。</a:t>
            </a:r>
          </a:p>
        </p:txBody>
      </p:sp>
    </p:spTree>
    <p:extLst>
      <p:ext uri="{BB962C8B-B14F-4D97-AF65-F5344CB8AC3E}">
        <p14:creationId xmlns:p14="http://schemas.microsoft.com/office/powerpoint/2010/main" val="171146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基本用法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114935" y="1149985"/>
            <a:ext cx="10822146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安装、启用和退出</a:t>
            </a:r>
            <a:endParaRPr lang="en-US" altLang="zh-CN" sz="2000" b="1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安装完成后，键入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命令，就进入了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窗口。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按下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Ctrl+d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或者显式输入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exit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命令，就可以退出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窗口。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799602-5AF6-031F-0146-DB09F826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228972"/>
            <a:ext cx="8695238" cy="19619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2C001DB-1BE1-9DDD-02D4-50821176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824459"/>
            <a:ext cx="8714286" cy="75238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E589E23-2882-FB9C-E0D6-E471DE0B7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595" y="3429000"/>
            <a:ext cx="4871922" cy="334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2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会话管理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-66675" y="1427873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新建会话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第一个启动的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窗口，编号是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，第二个窗口的编号是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，以此类推。这些窗口对应的会话，就是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号会话、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号会话。</a:t>
            </a: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分离会话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：在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窗口中，按下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Ctrl+b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或者输入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detach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命令，就会将当前会话与窗口分离。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上面命令执行后，就会退出当前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窗口，但是会话和里面的进程仍然在后台运行。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ls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命令可以查看当前所有的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会话。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5CAC792-2895-464C-678F-CE099BF58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714" y="2339041"/>
            <a:ext cx="8828571" cy="76190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EA7D9E1-D9B8-F8E3-69A5-6A1733934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714" y="3388313"/>
            <a:ext cx="8780952" cy="75238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DB71DDF-84C6-15DE-29DF-FA6E3FB5F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714" y="5030359"/>
            <a:ext cx="8704762" cy="1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43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会话管理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0" y="652462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接入会话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attach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命令用于重新接入某个已存在的会话。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杀死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kill-session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命令用于杀死某个会话。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切换会话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switch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命令用于切换会话。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b="0" i="0" u="none" strike="noStrike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632406E-BEC4-E73E-2A77-65355BEA7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197" y="1689455"/>
            <a:ext cx="8857143" cy="12005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F153C0-C729-4422-98DF-EADBED75C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198" y="3292426"/>
            <a:ext cx="8866667" cy="16095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1C36855-02C1-58F3-163C-CC3798F44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197" y="5304105"/>
            <a:ext cx="8857143" cy="1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73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会话管理</a:t>
            </a:r>
            <a:endParaRPr lang="zh-CN" altLang="en-US" sz="3200" b="1" baseline="0" dirty="0">
              <a:solidFill>
                <a:srgbClr val="072063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0" y="652462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重命名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会话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tmux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rename-session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命令用于重命名会话。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快捷会话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endParaRPr lang="zh-CN" altLang="en-US" sz="2000" b="0" i="0" u="none" strike="noStrike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3F27D3-E705-D634-EF58-1832C2607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008" y="1909120"/>
            <a:ext cx="8742857" cy="8095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AF7D0D3-FA14-55C5-F99C-987D7C474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008" y="3557680"/>
            <a:ext cx="8761905" cy="1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78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操作流程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0" y="652462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最简操作流程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endParaRPr lang="zh-CN" altLang="en-US" sz="2000" b="0" i="0" u="none" strike="noStrike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FC49D2-0959-5B76-2F80-A68654B01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72" y="1820371"/>
            <a:ext cx="8961905" cy="2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5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任务协调与消息通信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0" y="652462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共享任务列表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共享任务列表是团队协调的核心。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Lead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创建任务，队友认领和完成任务。所有团队成员都能看到任务列表的实时状态。任务状态按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pending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（待处理）→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in_progress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（进行中）→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completed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（已完成）流转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任务依赖关系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被阻塞的任务在前置任务完成后自动解除阻塞。</a:t>
            </a: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任务分配方式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Lead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显式分配给特定队友（适用于需要特定专业能力的任务）。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队友自主认领（适用于能力相似、无特殊要求的任务）。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认领使用文件锁机制防止竞争条件，两个队友同时尝试认领同一个任务时，只有一个会成功。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endParaRPr lang="zh-CN" altLang="en-US" sz="2000" b="0" i="0" u="none" strike="noStrike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1698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任务协调与消息通信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0" y="652462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任务拆分的粒度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任务拆分粒度直接影响团队效率。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推荐每个队友保持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5-6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个任务，整个团队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3-5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个队友，单个任务的执行时间控制在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5-15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。任务过粗，一个队友执行时间过长，其他队友等待；任务过细，协调开销大于实际执行时间。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endParaRPr lang="zh-CN" altLang="en-US" sz="2000" b="0" i="0" u="none" strike="noStrike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6BD98F-6C13-0784-CE75-348CDB8F7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534" y="2739488"/>
            <a:ext cx="7352381" cy="3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93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任务协调与消息通信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0" y="652462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消息通信方式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Agent Teams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支持两种消息类型：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endParaRPr lang="zh-CN" altLang="en-US" sz="2000" b="0" i="0" u="none" strike="noStrike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广播消息的成本随团队规模线性增长，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个队友就意味着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份上下文消耗。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日常沟通应以私信为主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ADE2DD2-2709-920A-1DF7-00AFDA99E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428593"/>
              </p:ext>
            </p:extLst>
          </p:nvPr>
        </p:nvGraphicFramePr>
        <p:xfrm>
          <a:off x="680569" y="2504598"/>
          <a:ext cx="10715925" cy="1097280"/>
        </p:xfrm>
        <a:graphic>
          <a:graphicData uri="http://schemas.openxmlformats.org/drawingml/2006/table">
            <a:tbl>
              <a:tblPr/>
              <a:tblGrid>
                <a:gridCol w="2765458">
                  <a:extLst>
                    <a:ext uri="{9D8B030D-6E8A-4147-A177-3AD203B41FA5}">
                      <a16:colId xmlns:a16="http://schemas.microsoft.com/office/drawing/2014/main" val="2435302171"/>
                    </a:ext>
                  </a:extLst>
                </a:gridCol>
                <a:gridCol w="2541070">
                  <a:extLst>
                    <a:ext uri="{9D8B030D-6E8A-4147-A177-3AD203B41FA5}">
                      <a16:colId xmlns:a16="http://schemas.microsoft.com/office/drawing/2014/main" val="93181948"/>
                    </a:ext>
                  </a:extLst>
                </a:gridCol>
                <a:gridCol w="5409397">
                  <a:extLst>
                    <a:ext uri="{9D8B030D-6E8A-4147-A177-3AD203B41FA5}">
                      <a16:colId xmlns:a16="http://schemas.microsoft.com/office/drawing/2014/main" val="2773190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类型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说明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适用场景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4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effectLst/>
                        </a:rPr>
                        <a:t>私信</a:t>
                      </a:r>
                      <a:r>
                        <a:rPr lang="zh-CN" altLang="en-US" dirty="0">
                          <a:effectLst/>
                        </a:rPr>
                        <a:t>（</a:t>
                      </a:r>
                      <a:r>
                        <a:rPr lang="en-US" dirty="0">
                          <a:effectLst/>
                        </a:rPr>
                        <a:t>Direct Message）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发送给一个特定队友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针对性沟通，只消耗接收者的上下文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741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 dirty="0">
                          <a:effectLst/>
                        </a:rPr>
                        <a:t>广播</a:t>
                      </a:r>
                      <a:r>
                        <a:rPr lang="zh-CN" altLang="en-US" dirty="0">
                          <a:effectLst/>
                        </a:rPr>
                        <a:t>（</a:t>
                      </a:r>
                      <a:r>
                        <a:rPr lang="en-US" dirty="0">
                          <a:effectLst/>
                        </a:rPr>
                        <a:t>Broadcast）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同时发送给所有队友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任务范围变更、阻塞性问题等全员须知的情况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174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196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6BF1FDCD-BC82-BA2C-206B-0D775C158210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任务协调与消息通信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21E1EEEC-DC43-8D52-0CFD-A2674D9CCE8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EDB0B72D-C161-1635-009E-6D8E3B7F03D4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A176B1D0-6D52-0C08-CA6E-A1C36903B495}"/>
              </a:ext>
            </a:extLst>
          </p:cNvPr>
          <p:cNvSpPr txBox="1"/>
          <p:nvPr/>
        </p:nvSpPr>
        <p:spPr>
          <a:xfrm>
            <a:off x="0" y="652462"/>
            <a:ext cx="1207706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Plan Approval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对于重要任务，可以要求队友先制定计划，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Lead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审批后再执行。通过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在创建队友时设置 </a:t>
            </a:r>
            <a:r>
              <a:rPr lang="en-US" altLang="zh-CN" sz="20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plan_mode_required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启用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。启用后，队友在只读的计划模式下工作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可以读取文件、搜索代码、分析问题，但不能修改文件。队友完成计划后提交给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Lead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审批，获得批准后才进入执行模式。</a:t>
            </a: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endParaRPr lang="zh-CN" altLang="en-US" sz="2000" b="0" i="0" u="none" strike="noStrike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9C30E7-A3FF-9D8E-DF46-1044A1B8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63" y="3429000"/>
            <a:ext cx="9987993" cy="235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71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975D-A472-3F54-2356-AF2A9C2D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86F5D294-DC59-DE37-D5C0-3C4C9CA4EF74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Agent Teams </a:t>
            </a:r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场景下的上下文工程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E9032320-4653-7F91-2859-72E7D7BEB8CF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C695E696-F6E9-0071-6111-B703A75ACF4A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02EFE023-1325-A0D8-253E-9DFD8690F7D6}"/>
              </a:ext>
            </a:extLst>
          </p:cNvPr>
          <p:cNvSpPr txBox="1"/>
          <p:nvPr/>
        </p:nvSpPr>
        <p:spPr>
          <a:xfrm>
            <a:off x="0" y="652462"/>
            <a:ext cx="12077065" cy="236024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消息长度与频率控制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队友之间的消息通信是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Agent Teams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的核心优势，也是上下文消耗的主要来源。私信只进入接收者的上下文，广播进入所有队友的上下文。在任务描述中明确要求消息保持简洁：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BC0239-D5BE-E7B7-FB8F-501478DB1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32" y="2646946"/>
            <a:ext cx="11000000" cy="1714286"/>
          </a:xfrm>
          <a:prstGeom prst="rect">
            <a:avLst/>
          </a:prstGeom>
        </p:spPr>
      </p:pic>
      <p:sp>
        <p:nvSpPr>
          <p:cNvPr id="9" name="文本框 2">
            <a:extLst>
              <a:ext uri="{FF2B5EF4-FFF2-40B4-BE49-F238E27FC236}">
                <a16:creationId xmlns:a16="http://schemas.microsoft.com/office/drawing/2014/main" id="{12F49AA4-3CE7-EBD7-55AD-FD5C70B3E971}"/>
              </a:ext>
            </a:extLst>
          </p:cNvPr>
          <p:cNvSpPr txBox="1"/>
          <p:nvPr/>
        </p:nvSpPr>
        <p:spPr>
          <a:xfrm>
            <a:off x="-1" y="4361232"/>
            <a:ext cx="12077065" cy="2267534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CLAUDE.md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与文件系统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适合放入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CLAUDE.md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的内容包括术语标准、命名规范、代码风格和协作规则。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不适合放入的内容包括具体任务说明、频繁变化的配置项和特定队友的专业知识。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信息先留在文件里，需要时再读取，不会长期占用上下文窗口。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949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710FC-B8F9-AB5A-AB2B-64D0CE83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D0E9381C-E152-6B87-B5E7-8198E7934EE7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多智能体协作的上下文管理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97549226-56A7-1462-7515-86F3ECD809F7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504A8225-25EF-1BAE-A5DC-B18729D98A0D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08FF1DA8-95B9-AB47-F9C3-D80223232B83}"/>
              </a:ext>
            </a:extLst>
          </p:cNvPr>
          <p:cNvSpPr txBox="1"/>
          <p:nvPr/>
        </p:nvSpPr>
        <p:spPr>
          <a:xfrm>
            <a:off x="0" y="652462"/>
            <a:ext cx="12077065" cy="236024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保护主代理的上下文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4F2C282F-49BF-4AE2-7906-BC1717B877CA}"/>
              </a:ext>
            </a:extLst>
          </p:cNvPr>
          <p:cNvSpPr txBox="1"/>
          <p:nvPr/>
        </p:nvSpPr>
        <p:spPr>
          <a:xfrm>
            <a:off x="-1" y="4361232"/>
            <a:ext cx="12077065" cy="2267534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ECC113-5AA5-D001-6657-4C6971D7A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05" y="1601846"/>
            <a:ext cx="10074295" cy="525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64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F9D79-2D06-CD82-E7EE-94A86985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D5DB1FD6-DE17-FF90-F0DD-6DA6CA6415CD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多智能体协作的上下文管理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6044D26F-DE23-950E-F2FD-3826D5008320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9411B884-72ED-59A3-5470-7F5BDC7BE472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20E3D8B1-6CEF-347A-41AA-515C0E6DA0B7}"/>
              </a:ext>
            </a:extLst>
          </p:cNvPr>
          <p:cNvSpPr txBox="1"/>
          <p:nvPr/>
        </p:nvSpPr>
        <p:spPr>
          <a:xfrm>
            <a:off x="0" y="652462"/>
            <a:ext cx="12077065" cy="236024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输出压缩策略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     不同类型任务选择不同压缩策略：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D9379650-1FAD-D805-0510-532D711005C0}"/>
              </a:ext>
            </a:extLst>
          </p:cNvPr>
          <p:cNvSpPr txBox="1"/>
          <p:nvPr/>
        </p:nvSpPr>
        <p:spPr>
          <a:xfrm>
            <a:off x="-1" y="4361232"/>
            <a:ext cx="12077065" cy="2267534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D1037AB-7F2C-2E1B-159B-7B90B37F7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9035"/>
              </p:ext>
            </p:extLst>
          </p:nvPr>
        </p:nvGraphicFramePr>
        <p:xfrm>
          <a:off x="782854" y="2772570"/>
          <a:ext cx="10626291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1626883636"/>
                    </a:ext>
                  </a:extLst>
                </a:gridCol>
                <a:gridCol w="4427621">
                  <a:extLst>
                    <a:ext uri="{9D8B030D-6E8A-4147-A177-3AD203B41FA5}">
                      <a16:colId xmlns:a16="http://schemas.microsoft.com/office/drawing/2014/main" val="794124960"/>
                    </a:ext>
                  </a:extLst>
                </a:gridCol>
                <a:gridCol w="4918510">
                  <a:extLst>
                    <a:ext uri="{9D8B030D-6E8A-4147-A177-3AD203B41FA5}">
                      <a16:colId xmlns:a16="http://schemas.microsoft.com/office/drawing/2014/main" val="1808692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务类型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压缩方式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示例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857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数据分析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保存到文件，返回关键指标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“ROE 15.2%，同比+2.1%，报告已保存”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307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代码生成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直接写入文件，返回文件路径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“已生成 3 个模块，保存到 src/”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78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文档评审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保存详细评审意见到文件，返回评审结论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“发现 2 个高优先级问题，详见 review.md”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3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>
                          <a:effectLst/>
                        </a:rPr>
                        <a:t>信息检索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>
                          <a:effectLst/>
                        </a:rPr>
                        <a:t>保存检索结果到文件，返回摘要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>
                          <a:effectLst/>
                        </a:rPr>
                        <a:t>“找到 5 篇相关研究，已整理到 refs.md”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05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81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2A00-340A-05F4-52E3-E24343023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DF8D2C8E-8754-A0CF-DB26-9727C591ED2E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多智能体协作的上下文管理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3AB59F04-43C3-BFFF-8E0D-A3D8B9A869B2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3D3E59F5-DC10-976D-D702-035B85DCB3BA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8B00A722-AA36-ADDB-5F59-B184C853D3ED}"/>
              </a:ext>
            </a:extLst>
          </p:cNvPr>
          <p:cNvSpPr txBox="1"/>
          <p:nvPr/>
        </p:nvSpPr>
        <p:spPr>
          <a:xfrm>
            <a:off x="0" y="652462"/>
            <a:ext cx="12077065" cy="492056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通过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CLAUDE.md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维护一致性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zh-CN" dirty="0"/>
              <a:t>在多智能体协作中，所有智能体共享同一个项目目录，因此都会自动加载项目的 CLAUDE.md。这是一种成本较低的一致性机制。</a:t>
            </a:r>
            <a:endParaRPr lang="en-US" altLang="zh-CN" dirty="0"/>
          </a:p>
          <a:p>
            <a:pPr indent="457200"/>
            <a:endParaRPr lang="zh-CN" altLang="zh-CN" dirty="0"/>
          </a:p>
          <a:p>
            <a:pPr indent="457200"/>
            <a:r>
              <a:rPr lang="zh-CN" altLang="zh-CN" b="1" dirty="0"/>
              <a:t>适合放入 CLAUDE.md 的内容</a:t>
            </a:r>
            <a:r>
              <a:rPr lang="zh-CN" altLang="zh-CN" dirty="0"/>
              <a:t>：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术语标准（如”Agent → 智能体”）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输出文件的命名规范和存储路径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代码风格和格式要求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团队协作规则</a:t>
            </a:r>
            <a:endParaRPr lang="en-US" altLang="zh-CN" dirty="0"/>
          </a:p>
          <a:p>
            <a:pPr marL="285750"/>
            <a:endParaRPr lang="zh-CN" altLang="zh-CN" dirty="0"/>
          </a:p>
          <a:p>
            <a:pPr indent="457200"/>
            <a:r>
              <a:rPr lang="zh-CN" altLang="zh-CN" b="1" dirty="0"/>
              <a:t>不适合放入 CLAUDE.md 的内容</a:t>
            </a:r>
            <a:r>
              <a:rPr lang="zh-CN" altLang="zh-CN" dirty="0"/>
              <a:t>：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具体任务的详细说明（应在创建时通过 prompt 传入）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频繁变化的配置项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某个特定智能体才需要的专业知识</a:t>
            </a:r>
          </a:p>
          <a:p>
            <a:pPr marL="285750" indent="457200">
              <a:buFont typeface="Arial" panose="020B0604020202020204" pitchFamily="34" charset="0"/>
              <a:buChar char="•"/>
            </a:pPr>
            <a:r>
              <a:rPr lang="zh-CN" altLang="zh-CN" dirty="0"/>
              <a:t>每个智能体都会加载 CLAUDE.md 的内容，因此它本身也会占用上下文空间。文件应尽量简洁，避免放入冗余信息。</a:t>
            </a:r>
          </a:p>
          <a:p>
            <a:pPr marL="686435" indent="-342900" algn="just">
              <a:lnSpc>
                <a:spcPct val="15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550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4986D-3AB1-BD57-9E19-0F742C51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D6A83B36-B21F-9999-B076-AA0138D3D767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多智能体协作的上下文管理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6D5BD69F-2CBE-2699-70F1-80928E741255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1D51C035-8AF3-F713-7119-F8EDAA08E17D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2EF7D0A8-11A8-9D71-43DB-BF5395A3E5AC}"/>
              </a:ext>
            </a:extLst>
          </p:cNvPr>
          <p:cNvSpPr txBox="1"/>
          <p:nvPr/>
        </p:nvSpPr>
        <p:spPr>
          <a:xfrm>
            <a:off x="0" y="652462"/>
            <a:ext cx="12077065" cy="492056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文件系统作为共享存储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dirty="0"/>
              <a:t>使用文件共享的实践规则：</a:t>
            </a:r>
          </a:p>
          <a:p>
            <a:pPr marL="285750" indent="285750">
              <a:buFont typeface="Wingdings" panose="05000000000000000000" pitchFamily="2" charset="2"/>
              <a:buChar char="p"/>
            </a:pPr>
            <a:r>
              <a:rPr lang="zh-CN" altLang="en-US" dirty="0"/>
              <a:t>明确文件归属：每个文件只由一个智能体写入，避免写入冲突</a:t>
            </a:r>
          </a:p>
          <a:p>
            <a:pPr marL="285750" indent="285750">
              <a:buFont typeface="Wingdings" panose="05000000000000000000" pitchFamily="2" charset="2"/>
              <a:buChar char="p"/>
            </a:pPr>
            <a:r>
              <a:rPr lang="zh-CN" altLang="en-US" dirty="0"/>
              <a:t>约定目录结构：在任务分配时明确每个智能体的输入</a:t>
            </a:r>
            <a:r>
              <a:rPr lang="en-US" altLang="zh-CN" dirty="0"/>
              <a:t>/</a:t>
            </a:r>
            <a:r>
              <a:rPr lang="zh-CN" altLang="en-US" dirty="0"/>
              <a:t>输出目录</a:t>
            </a:r>
          </a:p>
          <a:p>
            <a:pPr marL="285750" indent="285750">
              <a:buFont typeface="Wingdings" panose="05000000000000000000" pitchFamily="2" charset="2"/>
              <a:buChar char="p"/>
            </a:pPr>
            <a:r>
              <a:rPr lang="zh-CN" altLang="en-US" dirty="0"/>
              <a:t>使用标准格式：</a:t>
            </a:r>
            <a:r>
              <a:rPr lang="en-US" altLang="zh-CN" dirty="0"/>
              <a:t>JSON </a:t>
            </a:r>
            <a:r>
              <a:rPr lang="zh-CN" altLang="en-US" dirty="0"/>
              <a:t>用于结构化数据，</a:t>
            </a:r>
            <a:r>
              <a:rPr lang="en-US" altLang="zh-CN" dirty="0"/>
              <a:t>Markdown </a:t>
            </a:r>
            <a:r>
              <a:rPr lang="zh-CN" altLang="en-US" dirty="0"/>
              <a:t>用于报告类内容</a:t>
            </a:r>
            <a:endParaRPr lang="zh-CN" altLang="zh-CN" dirty="0"/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05F566-4B65-204C-7EA9-9BA9FBFE2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4" y="3112744"/>
            <a:ext cx="11142857" cy="2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79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F9BC-4159-D127-C425-9C7D28FD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754C9C0B-DB52-0959-656C-9CE77C726927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多智能体协作的上下文管理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953F3AFC-F359-8DED-8031-39DED83010D9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9C048C30-CEA6-7062-AE2B-C3F67B1076A6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9DB3AA3E-6159-AD06-7C58-B47154F5B4A4}"/>
              </a:ext>
            </a:extLst>
          </p:cNvPr>
          <p:cNvSpPr txBox="1"/>
          <p:nvPr/>
        </p:nvSpPr>
        <p:spPr>
          <a:xfrm>
            <a:off x="0" y="652462"/>
            <a:ext cx="12077065" cy="492056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r>
              <a:rPr lang="zh-CN" altLang="zh-CN" b="1" dirty="0"/>
              <a:t>Plan Approval 的上下文价值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dirty="0"/>
              <a:t>当队友在计划模式下工作时，它只进行读取和分析操作，不会修改任何文件。如果 </a:t>
            </a:r>
            <a:r>
              <a:rPr lang="en-US" altLang="zh-CN" dirty="0"/>
              <a:t>Lead </a:t>
            </a:r>
            <a:r>
              <a:rPr lang="zh-CN" altLang="en-US" dirty="0"/>
              <a:t>发现队友的方向不对，可以在计划阶段就纠正，避免浪费执行阶段的上下文和资源。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9364AC1-D60E-1048-A0A6-306F16B8F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2600638"/>
            <a:ext cx="11028571" cy="2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33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09377-846D-CDD4-E2CA-286CA60B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>
            <a:extLst>
              <a:ext uri="{FF2B5EF4-FFF2-40B4-BE49-F238E27FC236}">
                <a16:creationId xmlns:a16="http://schemas.microsoft.com/office/drawing/2014/main" id="{EA24E7EE-4213-65DE-489B-91FCC9E8403F}"/>
              </a:ext>
            </a:extLst>
          </p:cNvPr>
          <p:cNvSpPr txBox="1"/>
          <p:nvPr/>
        </p:nvSpPr>
        <p:spPr>
          <a:xfrm>
            <a:off x="1157605" y="360680"/>
            <a:ext cx="88030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baseline="0" dirty="0">
                <a:solidFill>
                  <a:srgbClr val="072063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多智能体协作的上下文管理</a:t>
            </a:r>
          </a:p>
        </p:txBody>
      </p:sp>
      <p:sp>
        <p:nvSpPr>
          <p:cNvPr id="5" name="燕尾形 3">
            <a:extLst>
              <a:ext uri="{FF2B5EF4-FFF2-40B4-BE49-F238E27FC236}">
                <a16:creationId xmlns:a16="http://schemas.microsoft.com/office/drawing/2014/main" id="{3BAD83B9-CF13-7437-AD15-B84692B50290}"/>
              </a:ext>
            </a:extLst>
          </p:cNvPr>
          <p:cNvSpPr/>
          <p:nvPr/>
        </p:nvSpPr>
        <p:spPr>
          <a:xfrm>
            <a:off x="656590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燕尾形 5">
            <a:extLst>
              <a:ext uri="{FF2B5EF4-FFF2-40B4-BE49-F238E27FC236}">
                <a16:creationId xmlns:a16="http://schemas.microsoft.com/office/drawing/2014/main" id="{015FB0D2-568B-4BCF-9ECC-CF3A00EF0387}"/>
              </a:ext>
            </a:extLst>
          </p:cNvPr>
          <p:cNvSpPr/>
          <p:nvPr/>
        </p:nvSpPr>
        <p:spPr>
          <a:xfrm>
            <a:off x="390525" y="409575"/>
            <a:ext cx="360680" cy="485775"/>
          </a:xfrm>
          <a:prstGeom prst="chevron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scaled="0"/>
          </a:gra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5953A871-3497-6037-2066-F1E974C79087}"/>
              </a:ext>
            </a:extLst>
          </p:cNvPr>
          <p:cNvSpPr txBox="1"/>
          <p:nvPr/>
        </p:nvSpPr>
        <p:spPr>
          <a:xfrm>
            <a:off x="0" y="652462"/>
            <a:ext cx="12077065" cy="4920565"/>
          </a:xfrm>
          <a:prstGeom prst="rect">
            <a:avLst/>
          </a:prstGeom>
          <a:noFill/>
          <a:ln w="9525">
            <a:noFill/>
          </a:ln>
        </p:spPr>
        <p:txBody>
          <a:bodyPr wrap="square" tIns="0" anchor="t">
            <a:noAutofit/>
          </a:bodyPr>
          <a:lstStyle/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/>
              <a:t>辩论式协作的上下文考量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dirty="0"/>
              <a:t>辩论式协作是 </a:t>
            </a:r>
            <a:r>
              <a:rPr lang="en-US" altLang="zh-CN" dirty="0"/>
              <a:t>Agent Teams </a:t>
            </a:r>
            <a:r>
              <a:rPr lang="zh-CN" altLang="en-US" dirty="0"/>
              <a:t>的一种典型用法。两个队友从不同角度分析同一个问题，互相质疑和补充，可以减少分析盲区，但每轮交流都会消耗双方的上下文空间。</a:t>
            </a:r>
          </a:p>
          <a:p>
            <a:pPr indent="457200"/>
            <a:endParaRPr lang="zh-CN" altLang="en-US" dirty="0"/>
          </a:p>
          <a:p>
            <a:pPr indent="457200"/>
            <a:r>
              <a:rPr lang="zh-CN" altLang="en-US" dirty="0"/>
              <a:t>不要让队友无限制地辩论。在任务描述中设定明确的边界：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algn="just">
              <a:lnSpc>
                <a:spcPct val="150000"/>
              </a:lnSpc>
              <a:spcAft>
                <a:spcPts val="600"/>
              </a:spcAft>
              <a:buClrTx/>
              <a:buSzTx/>
            </a:pP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1E4658-8469-3D07-86D8-978A3F2F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43" y="2916655"/>
            <a:ext cx="11085714" cy="3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2506</Words>
  <Application>Microsoft Office PowerPoint</Application>
  <PresentationFormat>宽屏</PresentationFormat>
  <Paragraphs>346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PingFang SC</vt:lpstr>
      <vt:lpstr>SFMono-Regular</vt:lpstr>
      <vt:lpstr>等线</vt:lpstr>
      <vt:lpstr>等线 Light</vt:lpstr>
      <vt:lpstr>楷体</vt:lpstr>
      <vt:lpstr>微软雅黑</vt:lpstr>
      <vt:lpstr>Arial</vt:lpstr>
      <vt:lpstr>Georgia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鹏程 金</dc:creator>
  <cp:lastModifiedBy>Pengcheng Jin</cp:lastModifiedBy>
  <cp:revision>8</cp:revision>
  <dcterms:created xsi:type="dcterms:W3CDTF">2025-01-17T05:11:03Z</dcterms:created>
  <dcterms:modified xsi:type="dcterms:W3CDTF">2026-06-18T13:51:12Z</dcterms:modified>
</cp:coreProperties>
</file>